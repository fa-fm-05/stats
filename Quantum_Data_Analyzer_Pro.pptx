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09728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3657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3657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3657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3657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3657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3657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3657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3657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8229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8229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8229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8229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8229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8229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8229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8229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2801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2801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2801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12801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2801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12801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12801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12801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17373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17373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17373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17373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17373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17373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17373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17373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21945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1945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1945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21945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21945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21945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21945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2194560"/>
            <a:ext cx="64008" cy="64008"/>
          </a:xfrm>
          <a:prstGeom prst="ellipse">
            <a:avLst/>
          </a:prstGeom>
          <a:solidFill>
            <a:srgbClr val="222639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12801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DATA ANALYZER PRO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457200" y="21488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System Architecture, Technical Design &amp; Verification Guide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22639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Systems Engineer &amp; Data Analyst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System: </a:t>
            </a:r>
            <a:pPr indent="0" marL="0">
              <a:buNone/>
            </a:pPr>
            <a:r>
              <a:rPr lang="en-US" sz="13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Statistics Application (Python / CustomTkinter)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</a:t>
            </a:r>
            <a:pPr indent="0" marL="0">
              <a:buNone/>
            </a:pPr>
            <a:r>
              <a:rPr lang="en-US" sz="13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1.1.0 (Stable Release)  ·  June 2026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315200" y="4389120"/>
            <a:ext cx="1645920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A0F"/>
                </a:solidFill>
              </a:rPr>
              <a:t>v1.1.0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2141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Data Analyzer Pro is a desktop-based statistics, modeling, and visualization suite built on Python's advanced numeric stack — CustomTkinter, Pandas, SciPy, NumPy, and Matplotlib.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114800" cy="1143000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48840"/>
            <a:ext cx="64008" cy="1143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Statistical Computing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variance, 95% CI, normality validation via Shapiro-Wilk test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148840"/>
            <a:ext cx="4114800" cy="1143000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48840"/>
            <a:ext cx="64008" cy="1143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Hypothesis Testing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t-tests with p-value reporting and significance conclusions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114800" cy="1143000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74720"/>
            <a:ext cx="64008" cy="1143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Regression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standard errors, R-squared, and Pearson 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474720"/>
            <a:ext cx="4114800" cy="1143000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474720"/>
            <a:ext cx="64008" cy="1143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Dual-Theme UI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modes with Matplotlib graphs synchronized to the app theme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LOGICAL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MVC-aligned modular design pattern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1280160"/>
          </a:xfrm>
          <a:prstGeom prst="rect">
            <a:avLst/>
          </a:prstGeom>
          <a:solidFill>
            <a:srgbClr val="12141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282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datasets, preprocessing, descriptive stats, Shapiro-Wilk, t-tests, Pearson correlation, regression, and Excel generation.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2651760" cy="1280160"/>
          </a:xfrm>
          <a:prstGeom prst="rect">
            <a:avLst/>
          </a:prstGeom>
          <a:solidFill>
            <a:srgbClr val="12141E"/>
          </a:solidFill>
          <a:ln w="19050">
            <a:solidFill>
              <a:srgbClr val="FF0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DataAnalyzerApp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7282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Controller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 desktop interface: ribbon tabview, dropdowns, action buttons, side panels, embedded Matplotlib canvases.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325880"/>
            <a:ext cx="2651760" cy="1280160"/>
          </a:xfrm>
          <a:prstGeom prst="rect">
            <a:avLst/>
          </a:prstGeom>
          <a:solidFill>
            <a:srgbClr val="12141E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7282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Pandas series into styled Matplotlib figures. Manages color palettes across light and dark modes.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4160520" cy="1280160"/>
          </a:xfrm>
          <a:prstGeom prst="rect">
            <a:avLst/>
          </a:prstGeom>
          <a:solidFill>
            <a:srgbClr val="12141E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1912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styling hex codes for plots and grids, syncing visualizations with CustomTkinter dark/light modes.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788920"/>
            <a:ext cx="4160520" cy="1280160"/>
          </a:xfrm>
          <a:prstGeom prst="rect">
            <a:avLst/>
          </a:prstGeom>
          <a:solidFill>
            <a:srgbClr val="12141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80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DataCleaner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1912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4290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script: renames survey columns to standardized names, converts categorical intervals to numeric midpoints.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PRE-PROCESSING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77640" cy="3794760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3977640" cy="43891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INGESTION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/ Excel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file picker. Accepts .csv, .xlsx, .xls. Column menus auto-populate on load.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CSV Input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editor window with syntax highlighting. Paste raw CSV → 'Save &amp; Load Data'.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06240" cy="3794760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960120"/>
            <a:ext cx="4206240" cy="438912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60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PRE-PROCESSING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Midpoint Conversion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19019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extracts number boundaries from strings like '5-6 hours' → midpoint 5.5. Cast to numeric series automatically.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Auto-Encoding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09160" y="31821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text columns mapped to categorical numeric codes (pd.Categorical.codes). Null codes → NaN.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&amp; UNIVARIATE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554480"/>
          </a:xfrm>
          <a:prstGeom prst="rect">
            <a:avLst/>
          </a:prstGeom>
          <a:solidFill>
            <a:srgbClr val="12141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A0F"/>
                </a:solidFill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 of non-null records in selected column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51760" cy="1554480"/>
          </a:xfrm>
          <a:prstGeom prst="rect">
            <a:avLst/>
          </a:prstGeom>
          <a:solidFill>
            <a:srgbClr val="12141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07008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A0F"/>
                </a:solidFill>
              </a:rPr>
              <a:t>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mean and median values computed from numeric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2651760" cy="1554480"/>
          </a:xfrm>
          <a:prstGeom prst="rect">
            <a:avLst/>
          </a:prstGeom>
          <a:solidFill>
            <a:srgbClr val="12141E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07008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A0F"/>
                </a:solidFill>
              </a:rPr>
              <a:t>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Metrics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and variance measuring data spread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651760" cy="1554480"/>
          </a:xfrm>
          <a:prstGeom prst="rect">
            <a:avLst/>
          </a:prstGeom>
          <a:solidFill>
            <a:srgbClr val="12141E"/>
          </a:solidFill>
          <a:ln w="19050">
            <a:solidFill>
              <a:srgbClr val="FF00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44368"/>
            <a:ext cx="457200" cy="457200"/>
          </a:xfrm>
          <a:prstGeom prst="ellipse">
            <a:avLst/>
          </a:prstGeom>
          <a:solidFill>
            <a:srgbClr val="FF007F"/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A0F"/>
                </a:solidFill>
              </a:rPr>
              <a:t>CI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 distribution CI for numeric variables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743200"/>
            <a:ext cx="2651760" cy="1554480"/>
          </a:xfrm>
          <a:prstGeom prst="rect">
            <a:avLst/>
          </a:prstGeom>
          <a:solidFill>
            <a:srgbClr val="12141E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944368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A0F"/>
                </a:solidFill>
              </a:rPr>
              <a:t>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Test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91840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hypothesis test. P &lt; 0.05 rejects normality with warning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2743200"/>
            <a:ext cx="2651760" cy="1554480"/>
          </a:xfrm>
          <a:prstGeom prst="rect">
            <a:avLst/>
          </a:prstGeom>
          <a:solidFill>
            <a:srgbClr val="12141E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944368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0A0F"/>
                </a:solidFill>
              </a:rPr>
              <a:t>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Distributions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26480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percentage splits for top 10 values — categorical and discrete ranges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REGRESSION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X and Y variables in the Bivariate Analysis tab, then click 'Calculate Regression'. The engine runs scipy.stats.linregress and returns a full result panel.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4114800" cy="384048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68880"/>
            <a:ext cx="54864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Equation: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468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slope·X + intercept (e.g. Y = -0.4521·X + 9.1235)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907792"/>
            <a:ext cx="4114800" cy="384048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07792"/>
            <a:ext cx="54864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907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907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correlation coefficient (e.g. -0.6724)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114800" cy="384048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46704"/>
            <a:ext cx="54864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3467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R-Squared: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346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 — % variance explained (e.g. 0.4521)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85616"/>
            <a:ext cx="4114800" cy="384048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85616"/>
            <a:ext cx="54864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7856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785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test. P &lt; 0.05 → statistically significant relationship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4114800" cy="384048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224528"/>
            <a:ext cx="54864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Error: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of the slope estimate (e.g. 0.1102)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960120"/>
            <a:ext cx="3931920" cy="3794760"/>
          </a:xfrm>
          <a:prstGeom prst="rect">
            <a:avLst/>
          </a:prstGeom>
          <a:solidFill>
            <a:srgbClr val="0D0F18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solidFill>
            <a:srgbClr val="222639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Output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14173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Regression Analysis ===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16596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Dependent  (Y) : Stress_Level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19019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Independent(X) : Sleep_Hours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1442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38658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📈 [Linear Regression Results]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26289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Equation   : Y = -0.4521 * X + 9.1235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28712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 r  : -0.6724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11353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R-squared  : 0.4521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35584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   : 3.4210e-04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5981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Error  : 0.1102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38404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40827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Statistically significant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83480" y="432511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linear relationship (p &lt; 0.05)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 types rendered inside GUI canvas with zoom, scaling, and pop-out capabilities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1463040"/>
          </a:xfrm>
          <a:prstGeom prst="rect">
            <a:avLst/>
          </a:prstGeom>
          <a:solidFill>
            <a:srgbClr val="12141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697480" cy="43891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344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Bar &amp; Pie Charts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" y="17465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frequencies of categorical column values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1234440"/>
            <a:ext cx="2697480" cy="1463040"/>
          </a:xfrm>
          <a:prstGeom prst="rect">
            <a:avLst/>
          </a:prstGeom>
          <a:solidFill>
            <a:srgbClr val="12141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234440"/>
            <a:ext cx="2697480" cy="43891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Line Charts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7465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continuous series trends over time or row indices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97480" cy="1463040"/>
          </a:xfrm>
          <a:prstGeom prst="rect">
            <a:avLst/>
          </a:prstGeom>
          <a:solidFill>
            <a:srgbClr val="12141E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697480" cy="43891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2344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  Histograms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44768" y="17465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numerical density distributions across custom bin widths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697480" cy="1463040"/>
          </a:xfrm>
          <a:prstGeom prst="rect">
            <a:avLst/>
          </a:prstGeom>
          <a:solidFill>
            <a:srgbClr val="12141E"/>
          </a:solidFill>
          <a:ln w="19050">
            <a:solidFill>
              <a:srgbClr val="FF00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80360"/>
            <a:ext cx="2697480" cy="438912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880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 CI Plots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9768" y="33924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 flanked by 95% confidence interval boundaries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2880360"/>
            <a:ext cx="2697480" cy="1463040"/>
          </a:xfrm>
          <a:prstGeom prst="rect">
            <a:avLst/>
          </a:prstGeom>
          <a:solidFill>
            <a:srgbClr val="12141E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2880360"/>
            <a:ext cx="2697480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880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Scatter Plots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0" y="33924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with dashed regression trendline and Pearson 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97480" cy="1463040"/>
          </a:xfrm>
          <a:prstGeom prst="rect">
            <a:avLst/>
          </a:prstGeom>
          <a:solidFill>
            <a:srgbClr val="12141E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880360"/>
            <a:ext cx="269748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880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▦▦  Heatmaps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44768" y="33924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correlation matrix with dynamic text shading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STYLING &amp; THEME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dark/light themes — CustomTkinter + Matplotlib color harmony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926080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7880" y="1188720"/>
            <a:ext cx="2560320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00200"/>
            <a:ext cx="292608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002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Main Background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256032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709928"/>
            <a:ext cx="256032" cy="256032"/>
          </a:xfrm>
          <a:prstGeom prst="rect">
            <a:avLst/>
          </a:prstGeom>
          <a:solidFill>
            <a:srgbClr val="090A0F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6002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#090A0F (Futuristic Black)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1600200"/>
            <a:ext cx="256032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709928"/>
            <a:ext cx="256032" cy="256032"/>
          </a:xfrm>
          <a:prstGeom prst="rect">
            <a:avLst/>
          </a:prstGeom>
          <a:solidFill>
            <a:srgbClr val="F0F2F5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6002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#F0F2F5 (Off-White)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112264"/>
            <a:ext cx="292608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1226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/ Frames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112264"/>
            <a:ext cx="256032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221992"/>
            <a:ext cx="256032" cy="256032"/>
          </a:xfrm>
          <a:prstGeom prst="rect">
            <a:avLst/>
          </a:prstGeom>
          <a:solidFill>
            <a:srgbClr val="12141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21122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#12141E (Deep Navy/Gray)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2112264"/>
            <a:ext cx="256032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2221992"/>
            <a:ext cx="256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1122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 (Pure White)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624328"/>
            <a:ext cx="292608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62432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 / Grids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2624328"/>
            <a:ext cx="256032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2734056"/>
            <a:ext cx="256032" cy="256032"/>
          </a:xfrm>
          <a:prstGeom prst="rect">
            <a:avLst/>
          </a:prstGeom>
          <a:solidFill>
            <a:srgbClr val="222639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6243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#222639 (Muted Slate)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97880" y="2624328"/>
            <a:ext cx="256032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2734056"/>
            <a:ext cx="256032" cy="256032"/>
          </a:xfrm>
          <a:prstGeom prst="rect">
            <a:avLst/>
          </a:prstGeom>
          <a:solidFill>
            <a:srgbClr val="D1D5DB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26243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#D1D5DB (Light Slate)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136392"/>
            <a:ext cx="292608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13639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Cyan Highlight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3136392"/>
            <a:ext cx="256032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0" y="3246120"/>
            <a:ext cx="256032" cy="256032"/>
          </a:xfrm>
          <a:prstGeom prst="rect">
            <a:avLst/>
          </a:prstGeom>
          <a:solidFill>
            <a:srgbClr val="00E5FF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0752" y="31363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#00E5FF (Neon Cyan)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97880" y="3136392"/>
            <a:ext cx="256032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3246120"/>
            <a:ext cx="256032" cy="256032"/>
          </a:xfrm>
          <a:prstGeom prst="rect">
            <a:avLst/>
          </a:prstGeom>
          <a:solidFill>
            <a:srgbClr val="00A8B5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31363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#00A8B5 (Ocean Teal)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3648456"/>
            <a:ext cx="292608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64845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Trendline / Histogram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91840" y="3648456"/>
            <a:ext cx="256032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3758184"/>
            <a:ext cx="256032" cy="256032"/>
          </a:xfrm>
          <a:prstGeom prst="rect">
            <a:avLst/>
          </a:prstGeom>
          <a:solidFill>
            <a:srgbClr val="FF007F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0752" y="364845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#FF007F (Neon Magenta)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97880" y="3648456"/>
            <a:ext cx="2560320" cy="475488"/>
          </a:xfrm>
          <a:prstGeom prst="rect">
            <a:avLst/>
          </a:prstGeom>
          <a:solidFill>
            <a:srgbClr val="12141E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89320" y="3758184"/>
            <a:ext cx="256032" cy="256032"/>
          </a:xfrm>
          <a:prstGeom prst="rect">
            <a:avLst/>
          </a:prstGeom>
          <a:solidFill>
            <a:srgbClr val="D8006B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364845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#D8006B (Deep Pink)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4160520"/>
            <a:ext cx="292608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1605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/ Gold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91840" y="4160520"/>
            <a:ext cx="256032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83280" y="4270248"/>
            <a:ext cx="256032" cy="256032"/>
          </a:xfrm>
          <a:prstGeom prst="rect">
            <a:avLst/>
          </a:prstGeom>
          <a:solidFill>
            <a:srgbClr val="D4AF37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0752" y="4160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#D4AF37 (Metallic Gold)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897880" y="4160520"/>
            <a:ext cx="2560320" cy="475488"/>
          </a:xfrm>
          <a:prstGeom prst="rect">
            <a:avLst/>
          </a:prstGeom>
          <a:solidFill>
            <a:srgbClr val="090A0F"/>
          </a:solidFill>
          <a:ln w="6350">
            <a:solidFill>
              <a:srgbClr val="22263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4270248"/>
            <a:ext cx="256032" cy="256032"/>
          </a:xfrm>
          <a:prstGeom prst="rect">
            <a:avLst/>
          </a:prstGeom>
          <a:solidFill>
            <a:srgbClr val="B5952F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36792" y="4160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#B5952F (Bronze Gold)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MATHEMATICAL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005840"/>
          </a:xfrm>
          <a:prstGeom prst="rect">
            <a:avLst/>
          </a:prstGeom>
          <a:solidFill>
            <a:srgbClr val="12141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87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2011680" cy="1005840"/>
          </a:xfrm>
          <a:prstGeom prst="rect">
            <a:avLst/>
          </a:prstGeom>
          <a:solidFill>
            <a:srgbClr val="12141E"/>
          </a:solidFill>
          <a:ln w="19050">
            <a:solidFill>
              <a:srgbClr val="FF00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87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2011680" cy="1005840"/>
          </a:xfrm>
          <a:prstGeom prst="rect">
            <a:avLst/>
          </a:prstGeom>
          <a:solidFill>
            <a:srgbClr val="12141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987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Coverage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2011680" cy="1005840"/>
          </a:xfrm>
          <a:prstGeom prst="rect">
            <a:avLst/>
          </a:prstGeom>
          <a:solidFill>
            <a:srgbClr val="12141E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987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2011680" cy="2651760"/>
          </a:xfrm>
          <a:prstGeom prst="rect">
            <a:avLst/>
          </a:prstGeom>
          <a:solidFill>
            <a:srgbClr val="1214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48840"/>
            <a:ext cx="2011680" cy="3657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9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TestTheme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test_theme_initialization_dark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test_theme_initialization_light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3924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test_theme_update_mode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23160" y="2148840"/>
            <a:ext cx="2011680" cy="2651760"/>
          </a:xfrm>
          <a:prstGeom prst="rect">
            <a:avLst/>
          </a:prstGeom>
          <a:solidFill>
            <a:srgbClr val="12141E"/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23160" y="2148840"/>
            <a:ext cx="2011680" cy="365760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24" name="Text 22"/>
          <p:cNvSpPr/>
          <p:nvPr/>
        </p:nvSpPr>
        <p:spPr>
          <a:xfrm>
            <a:off x="2496312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9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TestDataModel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1460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test_load_from_csv_string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14600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test_calculate_univariate_stats_numeric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4600" y="33924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test_calculate_bivariate_stats_numeric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14600" y="3785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test_export_summary_stats_to_excel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1460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+8 more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148840"/>
            <a:ext cx="2011680" cy="2651760"/>
          </a:xfrm>
          <a:prstGeom prst="rect">
            <a:avLst/>
          </a:prstGeom>
          <a:solidFill>
            <a:srgbClr val="12141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148840"/>
            <a:ext cx="201168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4645152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9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TestPlotter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test_create_bar_chart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test_create_scatter_plot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3924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test_create_correlation_heatmap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3785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test_create_ci_plot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+4 more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20840" y="2148840"/>
            <a:ext cx="2011680" cy="2651760"/>
          </a:xfrm>
          <a:prstGeom prst="rect">
            <a:avLst/>
          </a:prstGeom>
          <a:solidFill>
            <a:srgbClr val="12141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2148840"/>
            <a:ext cx="201168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0" name="Text 38"/>
          <p:cNvSpPr/>
          <p:nvPr/>
        </p:nvSpPr>
        <p:spPr>
          <a:xfrm>
            <a:off x="6793992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9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TestDataCleaner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1228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test_clean_survey_data (regex range parsing, rename mapping, coercions)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with: python -m unittest Stats/test_analyzer.py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DEPLOYMENT &amp;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Installation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3931920" cy="420624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Ensure Python 3.10+ is installed on your workstation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931920" cy="420624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pip install -r requirements.txt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3931920" cy="420624"/>
          </a:xfrm>
          <a:prstGeom prst="rect">
            <a:avLst/>
          </a:prstGeom>
          <a:solidFill>
            <a:srgbClr val="12141E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python Stats/analyzer_gui.py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364992"/>
            <a:ext cx="3931920" cy="420624"/>
          </a:xfrm>
          <a:prstGeom prst="rect">
            <a:avLst/>
          </a:prstGeom>
          <a:solidFill>
            <a:srgbClr val="0D0F18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649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build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3931920" cy="420624"/>
          </a:xfrm>
          <a:prstGeom prst="rect">
            <a:avLst/>
          </a:prstGeom>
          <a:solidFill>
            <a:srgbClr val="0D0F18"/>
          </a:solidFill>
          <a:ln w="12700">
            <a:solidFill>
              <a:srgbClr val="2226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404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12141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64008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463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Model, View, and Plotter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965960"/>
            <a:ext cx="64008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1965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Stats Suite: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normality, t-tests, regression in one 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64008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468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Dual-Theme UI: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&amp; light modes synced across Tkinter + Matplotlib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64008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2971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 Types: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971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Pie, Line, Histogram, CI, Scatter, Heatmap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64008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474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Export: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474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workbook: stats, tests, regression, correlations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977640"/>
            <a:ext cx="64008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Unit Tests: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verification of all math and plotting pipelines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41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Data Analyzer Pro  ·  v1.1.0  ·  June 2026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Lead Systems Engineer &amp; Data Analyst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Data Analyzer Pro</dc:title>
  <dc:subject>PptxGenJS Presentation</dc:subject>
  <dc:creator>PptxGenJS</dc:creator>
  <cp:lastModifiedBy>PptxGenJS</cp:lastModifiedBy>
  <cp:revision>1</cp:revision>
  <dcterms:created xsi:type="dcterms:W3CDTF">2026-06-04T06:18:23Z</dcterms:created>
  <dcterms:modified xsi:type="dcterms:W3CDTF">2026-06-04T06:18:23Z</dcterms:modified>
</cp:coreProperties>
</file>